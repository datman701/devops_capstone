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984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240">
                <a:solidFill>
                  <a:srgbClr val="38BDF8"/>
                </a:solidFill>
                <a:latin typeface="Calibri"/>
              </a:rPr>
              <a:t>DEVOPS  CAPSTONE  ·  END-TO-END 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ClinicDesk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A clinic appointments app — built, tested, scanned,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and deployed by pipeline, not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0" i="0" spc="40">
                <a:solidFill>
                  <a:srgbClr val="94A3B8"/>
                </a:solidFill>
                <a:latin typeface="Calibri"/>
              </a:rPr>
              <a:t>commit  →  test  →  scan  →  publish  →  GitOps  →  cluster  →  observe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846320"/>
            <a:ext cx="384048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474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github.com/Datman701/devops_capstone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94A3B8"/>
                </a:solidFill>
                <a:latin typeface="Calibri"/>
              </a:rPr>
              <a:t>Terraform  ·  Kubernetes  ·  Helm  ·  GitHub Actions  ·  ArgoCD  ·  Prometheus  ·  Grafana</a:t>
            </a:r>
          </a:p>
        </p:txBody>
      </p:sp>
      <p:sp>
        <p:nvSpPr>
          <p:cNvPr id="11" name="Oval 10"/>
          <p:cNvSpPr/>
          <p:nvPr/>
        </p:nvSpPr>
        <p:spPr>
          <a:xfrm>
            <a:off x="10927080" y="1417320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11128" y="1417320"/>
            <a:ext cx="237744" cy="23774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95176" y="1417320"/>
            <a:ext cx="237744" cy="237744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01 ·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One small app, one serious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334155"/>
                </a:solidFill>
                <a:latin typeface="Calibri"/>
              </a:rPr>
              <a:t>ClinicDesk manages doctors, patients, and appointment bookings. It is deliberately small — the real deliverable is everything around it: automated builds, security scans, infrastructure, deployment, and observability.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99232"/>
            <a:ext cx="5669280" cy="85953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999232"/>
            <a:ext cx="73152" cy="8595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127248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154679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React + Vite, served by nginx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68496"/>
            <a:ext cx="5669280" cy="85953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68496"/>
            <a:ext cx="73152" cy="8595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1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123944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FastAPI · Python 3.12 · REST API + /metrics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5669280" cy="85953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73152" cy="8595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065776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093208"/>
            <a:ext cx="3429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PostgreSQL 16 with persistent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331" y="1572768"/>
            <a:ext cx="4948177" cy="4343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inicDesk dashboard: KPI cards for appointments, patients and docto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31" y="1572768"/>
            <a:ext cx="4948177" cy="4343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Every step is automated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A commit travels a fully automated path from developer to a measured, running container.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0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0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Dev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commit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98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782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22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GitHub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repository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400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784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24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Actions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DBEAFE"/>
                </a:solidFill>
                <a:latin typeface="Calibri"/>
              </a:rPr>
              <a:t>test · scan · build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402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786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26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GHCR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SHA-tagged image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404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788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28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ArgoCD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GitOps sync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406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790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30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Kubernetes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kind · EKS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40899" y="2660903"/>
            <a:ext cx="310896" cy="21945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79227" y="2176272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43235" y="2450591"/>
            <a:ext cx="110642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Calibri"/>
              </a:rPr>
              <a:t>Metrics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Prometheus ·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1106424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Gated by design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Nothing reaches the cluster unless it passes tests and the security scan.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Reproducible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The chart deploys the same SHA-tagged images that CI published.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03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Tools chosen for automation, not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015" y="1965960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2015" y="196596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015" y="2084831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015" y="2007107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895" y="23865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FastAPI ·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895" y="289864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PostgreSQL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9223" y="1965960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9223" y="196596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9223" y="2084831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9223" y="2007107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2103" y="23865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2103" y="289864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multi-stage builds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965960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196596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2084831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6431" y="2007107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CI / 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3865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89864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gated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3639" y="1965960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3639" y="196596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3639" y="2084831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3639" y="2007107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6519" y="23865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GHCR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519" y="289864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commit-SHA tags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2015" y="3813048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2015" y="3813048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2015" y="3931920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015" y="385419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95" y="4233672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Terraform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95" y="4745736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AWS VPC + EKS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9223" y="3813048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89223" y="3813048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9223" y="3931920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9223" y="385419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2103" y="4233672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2103" y="4745736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+ Helm chart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6431" y="3813048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6431" y="3813048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6431" y="3931920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6431" y="385419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GITOPS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9311" y="4233672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ArgoCD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9311" y="4745736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declarative sync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3639" y="3813048"/>
            <a:ext cx="2606040" cy="157276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03639" y="3813048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3639" y="3931920"/>
            <a:ext cx="2606040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3639" y="3854196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6519" y="4233672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Prometheus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6519" y="4745736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+ Grafana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04 ·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Small images, least privilege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Reviewed Dockerfiles that ship only what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Multi-stage builds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Compilers and build tools never reach the runtime image.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Non-root runtime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Backend runs as uid 1001, frontend as uid 101.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Pinned bases + health checks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Predictable builds and probe-ready containers.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449967"/>
            <a:ext cx="5166360" cy="26072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inal showing non-root users inside the running contain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9967"/>
            <a:ext cx="5166360" cy="26072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05 · CI /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Three gated jobs, one green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Every push runs the same pipeline; each job blocks the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backend-test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85 pytest tests plus ruff lint must pass first.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frontend-build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Production bundle is built and checked.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docker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Images are built and pushed to GHCR.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SHA-tagged, never :latest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Each image carries its commit SHA for traceability.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977675"/>
            <a:ext cx="5166360" cy="355187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Hub Actions run showing all pipeline jobs g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77675"/>
            <a:ext cx="5166360" cy="35518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06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Security is a gate, not an afterthought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Trivy runs inside CI, before anything is published.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Scanned in the pipeline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Both images are scanned for known vulnerabilities.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Fail on HIGH / CRITICAL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A serious finding stops the build and the publish.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Clean result shipped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The released images report 0 HIGH / 0 CRITICAL.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449967"/>
            <a:ext cx="5166360" cy="26072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ivy scan output reporting zero HIGH and CRITICAL vulnerabilit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9967"/>
            <a:ext cx="5166360" cy="26072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07 · 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Infrastructure defined once,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Terraform builds and tears down the AWS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Networking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VPC with 2 public + 2 private subnets and an Internet Gateway.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Compute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Amazon EKS 1.36 with a managed worker node group.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27 resources, one plan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Provisioned by terraform apply, removed by destroy.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401714"/>
            <a:ext cx="5166360" cy="2703795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WS console showing the EKS cluster provisioned by Terra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01714"/>
            <a:ext cx="5166360" cy="27037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08 ·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Declarative deploys that roll, not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One Helm chart describes the whole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A chart, not a script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Frontend, backend and PostgreSQL defined as templates.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5 pods running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Two backend, two frontend, one database replica.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Zero-downtime updates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Rolling updates with maxUnavailable 0, ClusterIP services, nginx Ingress.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449967"/>
            <a:ext cx="5166360" cy="26072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ubectl output listing running pods, services and in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9967"/>
            <a:ext cx="5166360" cy="26072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09 ·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Git is the 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395728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706624"/>
            <a:ext cx="243230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Git repo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0" i="0">
                <a:solidFill>
                  <a:srgbClr val="64748B"/>
                </a:solidFill>
                <a:latin typeface="Calibri"/>
              </a:rPr>
              <a:t>helm chart + manifests
(versioned, reviewable)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95728"/>
            <a:ext cx="2926080" cy="13716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706624"/>
            <a:ext cx="252374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ArgoCD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0" i="0">
                <a:solidFill>
                  <a:srgbClr val="DBEAFE"/>
                </a:solidFill>
                <a:latin typeface="Calibri"/>
              </a:rPr>
              <a:t>watches the repo,
reconciles the cluster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395728"/>
            <a:ext cx="310896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2706624"/>
            <a:ext cx="270662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Kubernetes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0" i="0">
                <a:solidFill>
                  <a:srgbClr val="64748B"/>
                </a:solidFill>
                <a:latin typeface="Calibri"/>
              </a:rPr>
              <a:t>desired state applied
continuously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85615" y="2935224"/>
            <a:ext cx="658368" cy="292608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443216" y="2935224"/>
            <a:ext cx="658368" cy="292608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3968496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78224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●  Synced  ·  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91456"/>
            <a:ext cx="1106424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Declarative, versioned, auditable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The desired cluster state lives in Git alongside the code.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Self-correcting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Drift is detected and reconciled automatically; rollback is a git revert.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2563EB"/>
                </a:solidFill>
                <a:latin typeface="Calibri"/>
              </a:rPr>
              <a:t>10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Calibri"/>
              </a:rPr>
              <a:t>If it runs, it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Metrics close the loop from request to container.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5321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Prometheus scraping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The API exposes /metrics; target clinicdesk-api reports UP.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Grafana dashboard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Nine live panels covering throughput, latency, errors, DB and resources.</a:t>
            </a:r>
          </a:p>
          <a:p>
            <a:pPr algn="l">
              <a:spcBef>
                <a:spcPts val="1300"/>
              </a:spcBef>
            </a:pPr>
            <a:r>
              <a:rPr sz="1550" b="1" i="0">
                <a:solidFill>
                  <a:srgbClr val="0F172A"/>
                </a:solidFill>
                <a:latin typeface="Calibri"/>
              </a:rPr>
              <a:t>Proves the pipeline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300" b="0" i="0">
                <a:solidFill>
                  <a:srgbClr val="334155"/>
                </a:solidFill>
                <a:latin typeface="Calibri"/>
              </a:rPr>
              <a:t>Dashboards read the same instance CI deployed.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816226"/>
            <a:ext cx="5166360" cy="38747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afana dashboard with nine live application and infrastructure pan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16226"/>
            <a:ext cx="5166360" cy="38747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Proof, not promises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868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0011" y="1965960"/>
            <a:ext cx="205740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011" y="2231136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71" y="314553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8579" y="1965960"/>
            <a:ext cx="205740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8579" y="2231136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5739" y="314553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HIGH / 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7147" y="1965960"/>
            <a:ext cx="205740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7147" y="2231136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4307" y="314553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pods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5715" y="1965960"/>
            <a:ext cx="205740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5715" y="2231136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2875" y="314553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Terraform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4283" y="1965960"/>
            <a:ext cx="205740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4283" y="2231136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1443" y="314553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Grafana panels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416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CBD5E1"/>
                </a:solidFill>
                <a:latin typeface="Calibri"/>
              </a:rPr>
              <a:t>The running app displays its own commit SHA — live proof that source, CI, registry, and cluster 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6967" y="4983480"/>
            <a:ext cx="4937760" cy="56692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6967" y="510235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github.com/Datman701/devops_capstone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ClinicDesk — DevOps Capstone</dc:title>
  <dc:subject>End-to-end DevOps delivery pipeline</dc:subject>
  <dc:creator>ClinicDesk DevOps Capstone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